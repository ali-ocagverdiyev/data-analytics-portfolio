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notesSlides/notesSlide13.xml" ContentType="application/vnd.openxmlformats-officedocument.presentationml.notesSlide+xml"/>
  <Override PartName="/ppt/charts/chart1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2.xml" ContentType="application/vnd.openxmlformats-officedocument.drawingml.chart+xml"/>
  <Override PartName="/ppt/notesSlides/notesSlide16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7.xml" ContentType="application/vnd.openxmlformats-officedocument.presentationml.notesSlide+xml"/>
  <Override PartName="/ppt/charts/chart15.xml" ContentType="application/vnd.openxmlformats-officedocument.drawingml.chart+xml"/>
  <Override PartName="/ppt/notesSlides/notesSlide18.xml" ContentType="application/vnd.openxmlformats-officedocument.presentationml.notesSlide+xml"/>
  <Override PartName="/ppt/charts/chart16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7.xml" ContentType="application/vnd.openxmlformats-officedocument.drawingml.chart+xml"/>
  <Override PartName="/ppt/notesSlides/notesSlide22.xml" ContentType="application/vnd.openxmlformats-officedocument.presentationml.notesSlide+xml"/>
  <Override PartName="/ppt/charts/chart18.xml" ContentType="application/vnd.openxmlformats-officedocument.drawingml.chart+xml"/>
  <Override PartName="/ppt/notesSlides/notesSlide23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4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2F65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056-0541-BFC5-069FE455685F}"/>
              </c:ext>
            </c:extLst>
          </c:dPt>
          <c:dPt>
            <c:idx val="1"/>
            <c:invertIfNegative val="0"/>
            <c:bubble3D val="0"/>
            <c:spPr>
              <a:solidFill>
                <a:srgbClr val="F472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56-0541-BFC5-069FE455685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Kişi</c:v>
                </c:pt>
                <c:pt idx="1">
                  <c:v>Qadın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67000</c:v>
                </c:pt>
                <c:pt idx="1">
                  <c:v>66000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56-0541-BFC5-069FE45568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2F65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4B-DC49-8DF2-D6DD80F68AA6}"/>
              </c:ext>
            </c:extLst>
          </c:dPt>
          <c:dPt>
            <c:idx val="1"/>
            <c:invertIfNegative val="0"/>
            <c:bubble3D val="0"/>
            <c:spPr>
              <a:solidFill>
                <a:srgbClr val="16A3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4B-DC49-8DF2-D6DD80F68AA6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4B-DC49-8DF2-D6DD80F68AA6}"/>
              </c:ext>
            </c:extLst>
          </c:dPt>
          <c:dPt>
            <c:idx val="3"/>
            <c:invertIfNegative val="0"/>
            <c:bubble3D val="0"/>
            <c:spPr>
              <a:solidFill>
                <a:srgbClr val="4E9F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A4B-DC49-8DF2-D6DD80F68AA6}"/>
              </c:ext>
            </c:extLst>
          </c:dPt>
          <c:dPt>
            <c:idx val="4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A4B-DC49-8DF2-D6DD80F68AA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0–17</c:v>
                </c:pt>
                <c:pt idx="1">
                  <c:v>18–34</c:v>
                </c:pt>
                <c:pt idx="2">
                  <c:v>35–49</c:v>
                </c:pt>
                <c:pt idx="3">
                  <c:v>50–64</c:v>
                </c:pt>
                <c:pt idx="4">
                  <c:v>65+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22000</c:v>
                </c:pt>
                <c:pt idx="1">
                  <c:v>25000</c:v>
                </c:pt>
                <c:pt idx="2">
                  <c:v>20000</c:v>
                </c:pt>
                <c:pt idx="3">
                  <c:v>27000</c:v>
                </c:pt>
                <c:pt idx="4">
                  <c:v>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4B-DC49-8DF2-D6DD80F68A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2F65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Diastolik təzyiq</c:v>
                </c:pt>
                <c:pt idx="1">
                  <c:v>Sistolik təzyiq</c:v>
                </c:pt>
                <c:pt idx="2">
                  <c:v>BMI</c:v>
                </c:pt>
                <c:pt idx="3">
                  <c:v>A1c</c:v>
                </c:pt>
                <c:pt idx="4">
                  <c:v>Qlükoza</c:v>
                </c:pt>
                <c:pt idx="5">
                  <c:v>Ümumi xolesterol</c:v>
                </c:pt>
                <c:pt idx="6">
                  <c:v>Triqliserid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589000</c:v>
                </c:pt>
                <c:pt idx="1">
                  <c:v>589000</c:v>
                </c:pt>
                <c:pt idx="2">
                  <c:v>518000</c:v>
                </c:pt>
                <c:pt idx="3">
                  <c:v>316000</c:v>
                </c:pt>
                <c:pt idx="4">
                  <c:v>158000</c:v>
                </c:pt>
                <c:pt idx="5">
                  <c:v>136000</c:v>
                </c:pt>
                <c:pt idx="6">
                  <c:v>136000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9C-5F4E-A3DD-DEA3E96D0F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16A3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0–17</c:v>
                </c:pt>
                <c:pt idx="1">
                  <c:v>18–34</c:v>
                </c:pt>
                <c:pt idx="2">
                  <c:v>35–49</c:v>
                </c:pt>
                <c:pt idx="3">
                  <c:v>50–64</c:v>
                </c:pt>
                <c:pt idx="4">
                  <c:v>65+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17.3</c:v>
                </c:pt>
                <c:pt idx="1">
                  <c:v>23.4</c:v>
                </c:pt>
                <c:pt idx="2">
                  <c:v>33.6</c:v>
                </c:pt>
                <c:pt idx="3">
                  <c:v>38.299999999999997</c:v>
                </c:pt>
                <c:pt idx="4">
                  <c:v>32.5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86-EE4E-8230-8A64B395E8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0–17</c:v>
                </c:pt>
                <c:pt idx="1">
                  <c:v>18–34</c:v>
                </c:pt>
                <c:pt idx="2">
                  <c:v>35–49</c:v>
                </c:pt>
                <c:pt idx="3">
                  <c:v>50–64</c:v>
                </c:pt>
                <c:pt idx="4">
                  <c:v>65+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119.5</c:v>
                </c:pt>
                <c:pt idx="1">
                  <c:v>129.19999999999999</c:v>
                </c:pt>
                <c:pt idx="2">
                  <c:v>135.19999999999999</c:v>
                </c:pt>
                <c:pt idx="3">
                  <c:v>136.19999999999999</c:v>
                </c:pt>
                <c:pt idx="4">
                  <c:v>135.69999999999999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B5-2F47-BA79-39E2A582D4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2F65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Ambulator müraciət</c:v>
                </c:pt>
                <c:pt idx="1">
                  <c:v>Simptom üzrə müraciət</c:v>
                </c:pt>
                <c:pt idx="2">
                  <c:v>Ambulator prosedur</c:v>
                </c:pt>
                <c:pt idx="3">
                  <c:v>Prenatal müraciət</c:v>
                </c:pt>
                <c:pt idx="4">
                  <c:v>Yoxlama müraciəti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597000</c:v>
                </c:pt>
                <c:pt idx="1">
                  <c:v>200000</c:v>
                </c:pt>
                <c:pt idx="2">
                  <c:v>92000</c:v>
                </c:pt>
                <c:pt idx="3">
                  <c:v>62000</c:v>
                </c:pt>
                <c:pt idx="4">
                  <c:v>56000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0A-F84B-B99C-D963F731CD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FD1-9E42-BA19-7BA11B22055E}"/>
              </c:ext>
            </c:extLst>
          </c:dPt>
          <c:dPt>
            <c:idx val="1"/>
            <c:invertIfNegative val="0"/>
            <c:bubble3D val="0"/>
            <c:spPr>
              <a:solidFill>
                <a:srgbClr val="16A3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D1-9E42-BA19-7BA11B22055E}"/>
              </c:ext>
            </c:extLst>
          </c:dPt>
          <c:dPt>
            <c:idx val="2"/>
            <c:invertIfNegative val="0"/>
            <c:bubble3D val="0"/>
            <c:spPr>
              <a:solidFill>
                <a:srgbClr val="2F65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D1-9E42-BA19-7BA11B22055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Az izlənən</c:v>
                </c:pt>
                <c:pt idx="1">
                  <c:v>Orta izlənən</c:v>
                </c:pt>
                <c:pt idx="2">
                  <c:v>Çox izlənən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31000</c:v>
                </c:pt>
                <c:pt idx="1">
                  <c:v>58000</c:v>
                </c:pt>
                <c:pt idx="2">
                  <c:v>29000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FD1-9E42-BA19-7BA11B2205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2F65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9DF-0641-A3C9-E7958E9E7540}"/>
              </c:ext>
            </c:extLst>
          </c:dPt>
          <c:dPt>
            <c:idx val="1"/>
            <c:invertIfNegative val="0"/>
            <c:bubble3D val="0"/>
            <c:spPr>
              <a:solidFill>
                <a:srgbClr val="16A3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DF-0641-A3C9-E7958E9E7540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DF-0641-A3C9-E7958E9E7540}"/>
              </c:ext>
            </c:extLst>
          </c:dPt>
          <c:dPt>
            <c:idx val="3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9DF-0641-A3C9-E7958E9E7540}"/>
              </c:ext>
            </c:extLst>
          </c:dPt>
          <c:dPt>
            <c:idx val="4"/>
            <c:invertIfNegative val="0"/>
            <c:bubble3D val="0"/>
            <c:spPr>
              <a:solidFill>
                <a:srgbClr val="7A5A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9DF-0641-A3C9-E7958E9E754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Aşağı BMI</c:v>
                </c:pt>
                <c:pt idx="1">
                  <c:v>Normal BMI</c:v>
                </c:pt>
                <c:pt idx="2">
                  <c:v>Artıq çəki</c:v>
                </c:pt>
                <c:pt idx="3">
                  <c:v>Piylənmə</c:v>
                </c:pt>
                <c:pt idx="4">
                  <c:v>Yüksək piylənmə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16000</c:v>
                </c:pt>
                <c:pt idx="1">
                  <c:v>19000</c:v>
                </c:pt>
                <c:pt idx="2">
                  <c:v>17000</c:v>
                </c:pt>
                <c:pt idx="3">
                  <c:v>41000</c:v>
                </c:pt>
                <c:pt idx="4">
                  <c:v>11000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DF-0641-A3C9-E7958E9E75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16A3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Aşağı BMI</c:v>
                </c:pt>
                <c:pt idx="1">
                  <c:v>Normal BMI</c:v>
                </c:pt>
                <c:pt idx="2">
                  <c:v>Artıq çəki</c:v>
                </c:pt>
                <c:pt idx="3">
                  <c:v>Piylənmə</c:v>
                </c:pt>
                <c:pt idx="4">
                  <c:v>Yüksək piylənmə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120.5</c:v>
                </c:pt>
                <c:pt idx="1">
                  <c:v>128.5</c:v>
                </c:pt>
                <c:pt idx="2">
                  <c:v>133.80000000000001</c:v>
                </c:pt>
                <c:pt idx="3">
                  <c:v>135.5</c:v>
                </c:pt>
                <c:pt idx="4">
                  <c:v>135.9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85-4145-A3BC-9743763763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2F65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865-1D40-BCB7-F4F78221C783}"/>
              </c:ext>
            </c:extLst>
          </c:dPt>
          <c:dPt>
            <c:idx val="1"/>
            <c:invertIfNegative val="0"/>
            <c:bubble3D val="0"/>
            <c:spPr>
              <a:solidFill>
                <a:srgbClr val="16A3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65-1D40-BCB7-F4F78221C783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65-1D40-BCB7-F4F78221C783}"/>
              </c:ext>
            </c:extLst>
          </c:dPt>
          <c:dPt>
            <c:idx val="3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865-1D40-BCB7-F4F78221C78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Aşağı glucose</c:v>
                </c:pt>
                <c:pt idx="1">
                  <c:v>Normal glucose</c:v>
                </c:pt>
                <c:pt idx="2">
                  <c:v>Yüksək glucose</c:v>
                </c:pt>
                <c:pt idx="3">
                  <c:v>Çox yüksək glucose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6.16</c:v>
                </c:pt>
                <c:pt idx="1">
                  <c:v>6.05</c:v>
                </c:pt>
                <c:pt idx="2">
                  <c:v>6.04</c:v>
                </c:pt>
                <c:pt idx="3">
                  <c:v>7.65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65-1D40-BCB7-F4F78221C7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2F65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Normal hamiləlik</c:v>
                </c:pt>
                <c:pt idx="1">
                  <c:v>Virus mənşəli sinus iltihabı</c:v>
                </c:pt>
                <c:pt idx="2">
                  <c:v>Kəskin boğaz iltihabı</c:v>
                </c:pt>
                <c:pt idx="3">
                  <c:v>Kəskin bronxit</c:v>
                </c:pt>
                <c:pt idx="4">
                  <c:v>Astma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85000</c:v>
                </c:pt>
                <c:pt idx="1">
                  <c:v>74000</c:v>
                </c:pt>
                <c:pt idx="2">
                  <c:v>43000</c:v>
                </c:pt>
                <c:pt idx="3">
                  <c:v>35000</c:v>
                </c:pt>
                <c:pt idx="4">
                  <c:v>13000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33-0347-9DC3-75C56E5A8C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148-D749-BB02-6959B52C200D}"/>
              </c:ext>
            </c:extLst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48-D749-BB02-6959B52C200D}"/>
              </c:ext>
            </c:extLst>
          </c:dPt>
          <c:dPt>
            <c:idx val="2"/>
            <c:invertIfNegative val="0"/>
            <c:bubble3D val="0"/>
            <c:spPr>
              <a:solidFill>
                <a:srgbClr val="7A5A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48-D749-BB02-6959B52C200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1–3 il fərq</c:v>
                </c:pt>
                <c:pt idx="1">
                  <c:v>3–5 il fərq</c:v>
                </c:pt>
                <c:pt idx="2">
                  <c:v>5 ildən çox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39000</c:v>
                </c:pt>
                <c:pt idx="1">
                  <c:v>13000</c:v>
                </c:pt>
                <c:pt idx="2">
                  <c:v>2600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148-D749-BB02-6959B52C20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Ölüm sertifikatı var, ölüm tarixi boşdur</c:v>
                </c:pt>
                <c:pt idx="1">
                  <c:v>Sertifikat tarixi ölüm tarixindən əvvəldir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3A-D741-8C53-91828B9F2F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8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973-3B4A-B313-F1B30747AF12}"/>
              </c:ext>
            </c:extLst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73-3B4A-B313-F1B30747AF1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Vəfatdan sonra klinik ölçmə</c:v>
                </c:pt>
                <c:pt idx="1">
                  <c:v>Vəfatdan sonra real müraciət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73-3B4A-B313-F1B30747AF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-0.9</c:v>
                </c:pt>
                <c:pt idx="1">
                  <c:v>-0.7</c:v>
                </c:pt>
                <c:pt idx="2">
                  <c:v>-0.6</c:v>
                </c:pt>
                <c:pt idx="3">
                  <c:v>-0.5</c:v>
                </c:pt>
                <c:pt idx="4">
                  <c:v>-0.4</c:v>
                </c:pt>
                <c:pt idx="5">
                  <c:v>-0.3</c:v>
                </c:pt>
                <c:pt idx="6">
                  <c:v>-0.2</c:v>
                </c:pt>
                <c:pt idx="7">
                  <c:v>-0.1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</c:v>
                </c:pt>
                <c:pt idx="1">
                  <c:v>4</c:v>
                </c:pt>
                <c:pt idx="2">
                  <c:v>10</c:v>
                </c:pt>
                <c:pt idx="3">
                  <c:v>8</c:v>
                </c:pt>
                <c:pt idx="4">
                  <c:v>12</c:v>
                </c:pt>
                <c:pt idx="5">
                  <c:v>24</c:v>
                </c:pt>
                <c:pt idx="6">
                  <c:v>16</c:v>
                </c:pt>
                <c:pt idx="7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7B-F548-BFAC-B9704A9D92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F9-CF40-BDD9-88F6955FB09A}"/>
              </c:ext>
            </c:extLst>
          </c:dPt>
          <c:dPt>
            <c:idx val="1"/>
            <c:invertIfNegative val="0"/>
            <c:bubble3D val="0"/>
            <c:spPr>
              <a:solidFill>
                <a:srgbClr val="16A3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F9-CF40-BDD9-88F6955FB0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Səbəb məlumatı boşdur</c:v>
                </c:pt>
                <c:pt idx="1">
                  <c:v>Səbəb məlumatı mövcuddur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908000</c:v>
                </c:pt>
                <c:pt idx="1">
                  <c:v>356000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F9-CF40-BDD9-88F6955FB0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2F65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6D0-8B4F-B8FC-957F0B42B281}"/>
              </c:ext>
            </c:extLst>
          </c:dPt>
          <c:dPt>
            <c:idx val="1"/>
            <c:invertIfNegative val="0"/>
            <c:bubble3D val="0"/>
            <c:spPr>
              <a:solidFill>
                <a:srgbClr val="16A3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D0-8B4F-B8FC-957F0B42B281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D0-8B4F-B8FC-957F0B42B281}"/>
              </c:ext>
            </c:extLst>
          </c:dPt>
          <c:dPt>
            <c:idx val="3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6D0-8B4F-B8FC-957F0B42B28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Aşağı glucose</c:v>
                </c:pt>
                <c:pt idx="1">
                  <c:v>Normal glucose</c:v>
                </c:pt>
                <c:pt idx="2">
                  <c:v>Yüksək glucose</c:v>
                </c:pt>
                <c:pt idx="3">
                  <c:v>Çox yüksək glucose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59</c:v>
                </c:pt>
                <c:pt idx="3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6D0-8B4F-B8FC-957F0B42B2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2F65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A9F-AC4B-9694-39496C516785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A9F-AC4B-9694-39496C516785}"/>
              </c:ext>
            </c:extLst>
          </c:dPt>
          <c:dPt>
            <c:idx val="2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A9F-AC4B-9694-39496C516785}"/>
              </c:ext>
            </c:extLst>
          </c:dPt>
          <c:dPt>
            <c:idx val="3"/>
            <c:invertIfNegative val="0"/>
            <c:bubble3D val="0"/>
            <c:spPr>
              <a:solidFill>
                <a:srgbClr val="16A3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A9F-AC4B-9694-39496C51678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18–34</c:v>
                </c:pt>
                <c:pt idx="1">
                  <c:v>35–49</c:v>
                </c:pt>
                <c:pt idx="2">
                  <c:v>50–64</c:v>
                </c:pt>
                <c:pt idx="3">
                  <c:v>65+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84</c:v>
                </c:pt>
                <c:pt idx="2">
                  <c:v>99</c:v>
                </c:pt>
                <c:pt idx="3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A9F-AC4B-9694-39496C5167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16A3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30-334C-8E62-3FF1566DC9AA}"/>
              </c:ext>
            </c:extLst>
          </c:dPt>
          <c:dPt>
            <c:idx val="1"/>
            <c:invertIfNegative val="0"/>
            <c:bubble3D val="0"/>
            <c:spPr>
              <a:solidFill>
                <a:srgbClr val="2F65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B30-334C-8E62-3FF1566DC9AA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30-334C-8E62-3FF1566DC9AA}"/>
              </c:ext>
            </c:extLst>
          </c:dPt>
          <c:dPt>
            <c:idx val="3"/>
            <c:invertIfNegative val="0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B30-334C-8E62-3FF1566DC9A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Risk yoxdur</c:v>
                </c:pt>
                <c:pt idx="1">
                  <c:v>1 risk</c:v>
                </c:pt>
                <c:pt idx="2">
                  <c:v>2 risk</c:v>
                </c:pt>
                <c:pt idx="3">
                  <c:v>3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5100</c:v>
                </c:pt>
                <c:pt idx="1">
                  <c:v>18000</c:v>
                </c:pt>
                <c:pt idx="2">
                  <c:v>8300</c:v>
                </c:pt>
                <c:pt idx="3">
                  <c:v>1300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B30-334C-8E62-3FF1566DC9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Dəyər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F172A"/>
                    </a:solidFill>
                    <a:latin typeface="Aptos"/>
                  </a:defRPr>
                </a:pPr>
                <a:endParaRPr lang="e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BMI sərhədə yaxın</c:v>
                </c:pt>
                <c:pt idx="1">
                  <c:v>Sistolik təzyiq sərhədə yaxın</c:v>
                </c:pt>
                <c:pt idx="2">
                  <c:v>Glucose sərhədə yaxın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3500</c:v>
                </c:pt>
                <c:pt idx="1">
                  <c:v>300</c:v>
                </c:pt>
                <c:pt idx="2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14-354E-92C8-424983A8AF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80" b="0" i="0" u="none" strike="noStrike">
                <a:solidFill>
                  <a:srgbClr val="0F172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286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307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13232" y="21031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</a:rPr>
              <a:t>Synthea Hospital datası üzrə yekun data analitika layihəsi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788920"/>
            <a:ext cx="6217920" cy="0"/>
          </a:xfrm>
          <a:prstGeom prst="line">
            <a:avLst/>
          </a:prstGeom>
          <a:noFill/>
          <a:ln w="38100">
            <a:solidFill>
              <a:srgbClr val="16A3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Ali Ojagverdiyev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767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5B6980"/>
                </a:solidFill>
              </a:rPr>
              <a:t>16.05.2026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1143000"/>
            <a:ext cx="1737360" cy="1737360"/>
          </a:xfrm>
          <a:prstGeom prst="rect">
            <a:avLst/>
          </a:prstGeom>
          <a:solidFill>
            <a:srgbClr val="2F65A7"/>
          </a:solidFill>
          <a:ln w="12700">
            <a:solidFill>
              <a:srgbClr val="2F65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104120" y="2971800"/>
            <a:ext cx="1143000" cy="1143000"/>
          </a:xfrm>
          <a:prstGeom prst="rect">
            <a:avLst/>
          </a:prstGeom>
          <a:solidFill>
            <a:srgbClr val="16A3A6"/>
          </a:solidFill>
          <a:ln w="12700">
            <a:solidFill>
              <a:srgbClr val="16A3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589520" y="4572000"/>
            <a:ext cx="23774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Mündəricat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Text 2"/>
          <p:cNvSpPr/>
          <p:nvPr/>
        </p:nvSpPr>
        <p:spPr>
          <a:xfrm>
            <a:off x="868680" y="107899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65A7"/>
                </a:solidFill>
              </a:rPr>
              <a:t>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600200" y="10607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Data və hazırlıq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00200" y="1463040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3 əsas RDS faylı, birləşdirmə və ümumi struktur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03911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A3A6"/>
                </a:solidFill>
              </a:rPr>
              <a:t>02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00200" y="20208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Deskriptiv təhlil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Pasiyent profili, klinik göstəricilər və müraciətlər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99923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9E0B"/>
                </a:solidFill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29809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Anomaliyalar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3383280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Tarix, ölüm qeydləri, A1c və səbəb məlumatı problemləri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39593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64545"/>
                </a:solidFill>
              </a:rPr>
              <a:t>04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00200" y="39410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Proqnoz və fərziyyələr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4343400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Risk siqnalları və göstəricilərarası analitik əlaqələr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91947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A5AF8"/>
                </a:solidFill>
              </a:rPr>
              <a:t>05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00200" y="49011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Xülasə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5303520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Əsas nəticələr və məhdudiyyətlər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512" y="411480"/>
            <a:ext cx="67665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20365B"/>
                </a:solidFill>
                <a:latin typeface="Aptos"/>
              </a:defRPr>
            </a:pPr>
            <a:r>
              <a:t>Mərkəzi tendensiya ölçüləri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502920"/>
            <a:ext cx="1600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00" b="0">
                <a:solidFill>
                  <a:srgbClr val="627087"/>
                </a:solidFill>
                <a:latin typeface="Aptos"/>
              </a:defRPr>
            </a:pPr>
            <a:r>
              <a:t>Deskriptiv təhlil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886968"/>
            <a:ext cx="10853928" cy="18288"/>
          </a:xfrm>
          <a:prstGeom prst="rect">
            <a:avLst/>
          </a:prstGeom>
          <a:solidFill>
            <a:srgbClr val="E0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050775"/>
              </p:ext>
            </p:extLst>
          </p:nvPr>
        </p:nvGraphicFramePr>
        <p:xfrm>
          <a:off x="187452" y="1627632"/>
          <a:ext cx="5908548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8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Ölçü</a:t>
                      </a:r>
                    </a:p>
                  </a:txBody>
                  <a:tcPr marL="73152" marR="45720">
                    <a:solidFill>
                      <a:srgbClr val="2036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Dəyər</a:t>
                      </a:r>
                    </a:p>
                  </a:txBody>
                  <a:tcPr marL="73152" marR="45720">
                    <a:solidFill>
                      <a:srgbClr val="2036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Qısa izah</a:t>
                      </a:r>
                    </a:p>
                  </a:txBody>
                  <a:tcPr marL="73152" marR="45720">
                    <a:solidFill>
                      <a:srgbClr val="203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365B"/>
                          </a:solidFill>
                          <a:latin typeface="Aptos"/>
                        </a:defRPr>
                      </a:pPr>
                      <a:r>
                        <a:t>Minimum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0365B"/>
                          </a:solidFill>
                          <a:latin typeface="Aptos"/>
                        </a:defRPr>
                      </a:pPr>
                      <a:r>
                        <a:t>-3.8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23E52"/>
                          </a:solidFill>
                          <a:latin typeface="Aptos"/>
                        </a:defRPr>
                      </a:pPr>
                      <a:r>
                        <a:rPr dirty="0" err="1"/>
                        <a:t>ən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kiçik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rəqəmsal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dəyər</a:t>
                      </a:r>
                      <a:r>
                        <a:rPr dirty="0"/>
                        <a:t>; </a:t>
                      </a:r>
                      <a:r>
                        <a:rPr dirty="0" err="1"/>
                        <a:t>anomaliya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siqnalı</a:t>
                      </a:r>
                      <a:r>
                        <a:rPr dirty="0"/>
                        <a:t> ola </a:t>
                      </a:r>
                      <a:r>
                        <a:rPr dirty="0" err="1"/>
                        <a:t>bilər</a:t>
                      </a:r>
                      <a:endParaRPr dirty="0"/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365B"/>
                          </a:solidFill>
                          <a:latin typeface="Aptos"/>
                        </a:defRPr>
                      </a:pPr>
                      <a:r>
                        <a:t>1-ci kvartil</a:t>
                      </a:r>
                    </a:p>
                  </a:txBody>
                  <a:tcPr marL="73152" marR="45720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0365B"/>
                          </a:solidFill>
                          <a:latin typeface="Aptos"/>
                        </a:defRPr>
                      </a:pPr>
                      <a:r>
                        <a:rPr dirty="0"/>
                        <a:t>21.0</a:t>
                      </a:r>
                    </a:p>
                  </a:txBody>
                  <a:tcPr marL="73152" marR="45720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23E52"/>
                          </a:solidFill>
                          <a:latin typeface="Aptos"/>
                        </a:defRPr>
                      </a:pPr>
                      <a:r>
                        <a:t>dəyərlərin 25%-i bu səviyyədən aşağıdır</a:t>
                      </a:r>
                    </a:p>
                  </a:txBody>
                  <a:tcPr marL="73152" marR="45720" marT="36576" marB="36576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365B"/>
                          </a:solidFill>
                          <a:latin typeface="Aptos"/>
                        </a:defRPr>
                      </a:pPr>
                      <a:r>
                        <a:t>Median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0365B"/>
                          </a:solidFill>
                          <a:latin typeface="Aptos"/>
                        </a:defRPr>
                      </a:pPr>
                      <a:r>
                        <a:t>77.0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23E52"/>
                          </a:solidFill>
                          <a:latin typeface="Aptos"/>
                        </a:defRPr>
                      </a:pPr>
                      <a:r>
                        <a:t>ortadakı tipik dəyəri göstərir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365B"/>
                          </a:solidFill>
                          <a:latin typeface="Aptos"/>
                        </a:defRPr>
                      </a:pPr>
                      <a:r>
                        <a:t>Orta dəyər</a:t>
                      </a:r>
                    </a:p>
                  </a:txBody>
                  <a:tcPr marL="73152" marR="45720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0365B"/>
                          </a:solidFill>
                          <a:latin typeface="Aptos"/>
                        </a:defRPr>
                      </a:pPr>
                      <a:r>
                        <a:t>77.7</a:t>
                      </a:r>
                    </a:p>
                  </a:txBody>
                  <a:tcPr marL="73152" marR="45720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23E52"/>
                          </a:solidFill>
                          <a:latin typeface="Aptos"/>
                        </a:defRPr>
                      </a:pPr>
                      <a:r>
                        <a:t>bütün rəqəmsal nəticələrin orta göstəricisidir</a:t>
                      </a:r>
                    </a:p>
                  </a:txBody>
                  <a:tcPr marL="73152" marR="45720" marT="36576" marB="36576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365B"/>
                          </a:solidFill>
                          <a:latin typeface="Aptos"/>
                        </a:defRPr>
                      </a:pPr>
                      <a:r>
                        <a:t>3-cü kvartil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0365B"/>
                          </a:solidFill>
                          <a:latin typeface="Aptos"/>
                        </a:defRPr>
                      </a:pPr>
                      <a:r>
                        <a:t>118.0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23E52"/>
                          </a:solidFill>
                          <a:latin typeface="Aptos"/>
                        </a:defRPr>
                      </a:pPr>
                      <a:r>
                        <a:t>dəyərlərin 75%-i bu səviyyədən aşağıdır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365B"/>
                          </a:solidFill>
                          <a:latin typeface="Aptos"/>
                        </a:defRPr>
                      </a:pPr>
                      <a:r>
                        <a:t>Maksimum</a:t>
                      </a:r>
                    </a:p>
                  </a:txBody>
                  <a:tcPr marL="73152" marR="45720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0365B"/>
                          </a:solidFill>
                          <a:latin typeface="Aptos"/>
                        </a:defRPr>
                      </a:pPr>
                      <a:r>
                        <a:t>600.0</a:t>
                      </a:r>
                    </a:p>
                  </a:txBody>
                  <a:tcPr marL="73152" marR="45720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23E52"/>
                          </a:solidFill>
                          <a:latin typeface="Aptos"/>
                        </a:defRPr>
                      </a:pPr>
                      <a:r>
                        <a:rPr dirty="0" err="1"/>
                        <a:t>ən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böyük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rəqəmsal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dəyər</a:t>
                      </a:r>
                      <a:r>
                        <a:rPr dirty="0"/>
                        <a:t>; </a:t>
                      </a:r>
                      <a:r>
                        <a:rPr dirty="0" err="1"/>
                        <a:t>ayrıca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yoxlanmalı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həddir</a:t>
                      </a:r>
                      <a:endParaRPr dirty="0"/>
                    </a:p>
                  </a:txBody>
                  <a:tcPr marL="73152" marR="45720" marT="36576" marB="36576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304280" y="1627632"/>
            <a:ext cx="54864" cy="3429000"/>
          </a:xfrm>
          <a:prstGeom prst="rect">
            <a:avLst/>
          </a:prstGeom>
          <a:solidFill>
            <a:srgbClr val="4FA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7424" y="1627632"/>
            <a:ext cx="3291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00" b="1">
                <a:solidFill>
                  <a:srgbClr val="20365B"/>
                </a:solidFill>
                <a:latin typeface="Aptos"/>
              </a:defRPr>
            </a:pPr>
            <a:r>
              <a:rPr dirty="0" err="1"/>
              <a:t>Əsas</a:t>
            </a:r>
            <a:r>
              <a:rPr dirty="0"/>
              <a:t> </a:t>
            </a:r>
            <a:r>
              <a:rPr dirty="0" err="1"/>
              <a:t>oxunuş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67424" y="2071116"/>
            <a:ext cx="329184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0">
                <a:solidFill>
                  <a:srgbClr val="0F172A"/>
                </a:solidFill>
                <a:latin typeface="Aptos"/>
              </a:defRPr>
            </a:pPr>
            <a:r>
              <a:rPr dirty="0"/>
              <a:t>Median </a:t>
            </a:r>
            <a:r>
              <a:rPr dirty="0" err="1"/>
              <a:t>və</a:t>
            </a:r>
            <a:r>
              <a:rPr dirty="0"/>
              <a:t> </a:t>
            </a:r>
            <a:r>
              <a:rPr dirty="0" err="1"/>
              <a:t>orta</a:t>
            </a:r>
            <a:r>
              <a:rPr dirty="0"/>
              <a:t> </a:t>
            </a:r>
            <a:r>
              <a:rPr dirty="0" err="1"/>
              <a:t>dəyər</a:t>
            </a:r>
            <a:r>
              <a:rPr dirty="0"/>
              <a:t> </a:t>
            </a:r>
            <a:r>
              <a:rPr dirty="0" err="1"/>
              <a:t>bir-birinə</a:t>
            </a:r>
            <a:r>
              <a:rPr dirty="0"/>
              <a:t> </a:t>
            </a:r>
            <a:r>
              <a:rPr dirty="0" err="1"/>
              <a:t>yaxındır</a:t>
            </a:r>
            <a:r>
              <a:rPr dirty="0"/>
              <a:t>; </a:t>
            </a:r>
            <a:r>
              <a:rPr dirty="0" err="1"/>
              <a:t>bu</a:t>
            </a:r>
            <a:r>
              <a:rPr dirty="0"/>
              <a:t>, </a:t>
            </a:r>
            <a:r>
              <a:rPr dirty="0" err="1"/>
              <a:t>ümumi</a:t>
            </a:r>
            <a:r>
              <a:rPr dirty="0"/>
              <a:t> </a:t>
            </a:r>
            <a:r>
              <a:rPr dirty="0" err="1"/>
              <a:t>paylanmanın</a:t>
            </a:r>
            <a:r>
              <a:rPr dirty="0"/>
              <a:t> </a:t>
            </a:r>
            <a:r>
              <a:rPr dirty="0" err="1"/>
              <a:t>mərkəzini</a:t>
            </a:r>
            <a:r>
              <a:rPr dirty="0"/>
              <a:t> </a:t>
            </a:r>
            <a:r>
              <a:rPr dirty="0" err="1"/>
              <a:t>göstərir</a:t>
            </a:r>
            <a:r>
              <a:rPr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7424" y="2607933"/>
            <a:ext cx="4832096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0">
                <a:solidFill>
                  <a:srgbClr val="0F172A"/>
                </a:solidFill>
                <a:latin typeface="Aptos"/>
              </a:defRPr>
            </a:pPr>
            <a:r>
              <a:rPr dirty="0"/>
              <a:t>Minimum </a:t>
            </a:r>
            <a:r>
              <a:rPr dirty="0" err="1"/>
              <a:t>və</a:t>
            </a:r>
            <a:r>
              <a:rPr dirty="0"/>
              <a:t> </a:t>
            </a:r>
            <a:r>
              <a:rPr dirty="0" err="1"/>
              <a:t>maksimum</a:t>
            </a:r>
            <a:r>
              <a:rPr dirty="0"/>
              <a:t> </a:t>
            </a:r>
            <a:r>
              <a:rPr dirty="0" err="1"/>
              <a:t>dəyərlər</a:t>
            </a:r>
            <a:r>
              <a:rPr dirty="0"/>
              <a:t> </a:t>
            </a:r>
            <a:r>
              <a:rPr dirty="0" err="1"/>
              <a:t>ayrıca</a:t>
            </a:r>
            <a:r>
              <a:rPr dirty="0"/>
              <a:t> </a:t>
            </a:r>
            <a:r>
              <a:rPr dirty="0" err="1"/>
              <a:t>yoxlanmalıdır</a:t>
            </a:r>
            <a:r>
              <a:rPr dirty="0"/>
              <a:t>; </a:t>
            </a:r>
            <a:r>
              <a:rPr dirty="0" err="1"/>
              <a:t>bu</a:t>
            </a:r>
            <a:r>
              <a:rPr dirty="0"/>
              <a:t> </a:t>
            </a:r>
            <a:r>
              <a:rPr dirty="0" err="1"/>
              <a:t>hallar</a:t>
            </a:r>
            <a:r>
              <a:rPr dirty="0"/>
              <a:t> </a:t>
            </a:r>
            <a:r>
              <a:rPr dirty="0" err="1"/>
              <a:t>anomaliyalar</a:t>
            </a:r>
            <a:r>
              <a:rPr dirty="0"/>
              <a:t> </a:t>
            </a:r>
            <a:r>
              <a:rPr dirty="0" err="1"/>
              <a:t>bölməsində</a:t>
            </a:r>
            <a:r>
              <a:rPr dirty="0"/>
              <a:t> </a:t>
            </a:r>
            <a:r>
              <a:rPr dirty="0" err="1"/>
              <a:t>davam</a:t>
            </a:r>
            <a:r>
              <a:rPr dirty="0"/>
              <a:t> </a:t>
            </a:r>
            <a:r>
              <a:rPr dirty="0" err="1"/>
              <a:t>etdirildi</a:t>
            </a:r>
            <a:r>
              <a:rPr dirty="0"/>
              <a:t>.</a:t>
            </a:r>
            <a:br>
              <a:rPr lang="en-US" dirty="0"/>
            </a:b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567424" y="3429000"/>
            <a:ext cx="508101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0">
                <a:solidFill>
                  <a:srgbClr val="0F172A"/>
                </a:solidFill>
                <a:latin typeface="Aptos"/>
              </a:defRPr>
            </a:pPr>
            <a:r>
              <a:rPr dirty="0" err="1"/>
              <a:t>Fərqli</a:t>
            </a:r>
            <a:r>
              <a:rPr dirty="0"/>
              <a:t> </a:t>
            </a:r>
            <a:r>
              <a:rPr dirty="0" err="1"/>
              <a:t>ölçü</a:t>
            </a:r>
            <a:r>
              <a:rPr dirty="0"/>
              <a:t> </a:t>
            </a:r>
            <a:r>
              <a:rPr dirty="0" err="1"/>
              <a:t>vahidləri</a:t>
            </a:r>
            <a:r>
              <a:rPr dirty="0"/>
              <a:t> </a:t>
            </a:r>
            <a:r>
              <a:rPr dirty="0" err="1"/>
              <a:t>olduğu</a:t>
            </a:r>
            <a:r>
              <a:rPr dirty="0"/>
              <a:t> </a:t>
            </a:r>
            <a:r>
              <a:rPr dirty="0" err="1"/>
              <a:t>üçün</a:t>
            </a:r>
            <a:r>
              <a:rPr dirty="0"/>
              <a:t> </a:t>
            </a:r>
            <a:r>
              <a:rPr dirty="0" err="1"/>
              <a:t>nəticələr</a:t>
            </a:r>
            <a:r>
              <a:rPr dirty="0"/>
              <a:t> </a:t>
            </a:r>
            <a:r>
              <a:rPr dirty="0" err="1"/>
              <a:t>sonrakı</a:t>
            </a:r>
            <a:r>
              <a:rPr dirty="0"/>
              <a:t> </a:t>
            </a:r>
            <a:r>
              <a:rPr dirty="0" err="1"/>
              <a:t>slaydlarda</a:t>
            </a:r>
            <a:r>
              <a:rPr dirty="0"/>
              <a:t> </a:t>
            </a:r>
            <a:r>
              <a:rPr dirty="0" err="1"/>
              <a:t>ayrı-ayrı</a:t>
            </a:r>
            <a:r>
              <a:rPr dirty="0"/>
              <a:t> </a:t>
            </a:r>
            <a:r>
              <a:rPr dirty="0" err="1"/>
              <a:t>klinik</a:t>
            </a:r>
            <a:r>
              <a:rPr dirty="0"/>
              <a:t> </a:t>
            </a:r>
            <a:r>
              <a:rPr dirty="0" err="1"/>
              <a:t>göstəricilər</a:t>
            </a:r>
            <a:r>
              <a:rPr dirty="0"/>
              <a:t> </a:t>
            </a:r>
            <a:r>
              <a:rPr dirty="0" err="1"/>
              <a:t>üzrə</a:t>
            </a:r>
            <a:r>
              <a:rPr dirty="0"/>
              <a:t> </a:t>
            </a:r>
            <a:r>
              <a:rPr dirty="0" err="1"/>
              <a:t>şərh</a:t>
            </a:r>
            <a:r>
              <a:rPr dirty="0"/>
              <a:t> </a:t>
            </a:r>
            <a:r>
              <a:rPr dirty="0" err="1"/>
              <a:t>edildi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394960"/>
            <a:ext cx="10149840" cy="594360"/>
          </a:xfrm>
          <a:prstGeom prst="roundRect">
            <a:avLst/>
          </a:prstGeom>
          <a:solidFill>
            <a:srgbClr val="EFF4F9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Ins="137160" rtlCol="0" anchor="ctr"/>
          <a:lstStyle/>
          <a:p>
            <a:pPr algn="ctr">
              <a:defRPr sz="1200">
                <a:solidFill>
                  <a:srgbClr val="627087"/>
                </a:solidFill>
                <a:latin typeface="Aptos"/>
              </a:defRPr>
            </a:pPr>
            <a:r>
              <a:t>Qeyd: bu ümumi texniki baxışdır; klinik interpretasiya üçün BMI, qan təzyiqi, glucose və A1c ayrıca analiz edilmişdir.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6428232"/>
            <a:ext cx="2743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650" b="0">
                <a:solidFill>
                  <a:srgbClr val="8291AA"/>
                </a:solidFill>
                <a:latin typeface="Aptos"/>
              </a:defRPr>
            </a:pPr>
            <a:r>
              <a:t>DA 307  |  Ali Ojagverdiyev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10881360" cy="2240280"/>
          </a:xfrm>
          <a:prstGeom prst="rect">
            <a:avLst/>
          </a:prstGeom>
          <a:solidFill>
            <a:srgbClr val="1F365D"/>
          </a:solidFill>
          <a:ln w="12700">
            <a:solidFill>
              <a:srgbClr val="1F365D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960120" y="193852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Deskriptiv təhlil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DEAFE"/>
                </a:solidFill>
              </a:rPr>
              <a:t>Data strukturu, pasiyent profili və əsas klinik göstəricilər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011680" y="4160520"/>
            <a:ext cx="8138160" cy="0"/>
          </a:xfrm>
          <a:prstGeom prst="line">
            <a:avLst/>
          </a:prstGeom>
          <a:noFill/>
          <a:ln w="27940">
            <a:solidFill>
              <a:srgbClr val="1F365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mənbələri və birləşdirmə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Deskriptiv təhlil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F365D"/>
                </a:solidFill>
              </a:rPr>
              <a:t>5.4 milyon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77240" y="14447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00" b="0">
                <a:solidFill>
                  <a:srgbClr val="5B6980"/>
                </a:solidFill>
              </a:rPr>
              <a:t>müşahidə datasında sətir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4612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100" b="1">
                <a:solidFill>
                  <a:srgbClr val="50A5A8"/>
                </a:solidFill>
              </a:rPr>
              <a:t>133 min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246120" y="1444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00" b="0">
                <a:solidFill>
                  <a:srgbClr val="5B6980"/>
                </a:solidFill>
              </a:rPr>
              <a:t>pasiyent datasında sətir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100" b="1">
                <a:solidFill>
                  <a:srgbClr val="E8A034"/>
                </a:solidFill>
              </a:rPr>
              <a:t>1.3 milyon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754880" y="14447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00" b="0">
                <a:solidFill>
                  <a:srgbClr val="5B6980"/>
                </a:solidFill>
              </a:rPr>
              <a:t>müraciət datasında sətir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5A7"/>
                </a:solidFill>
              </a:rPr>
              <a:t>patients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pasiyent demoqrafiyası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99232" y="29352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840480" y="27432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65D"/>
                </a:solidFill>
              </a:rPr>
              <a:t>observations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3246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əsas analiz datası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10528" y="29352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86600" y="27889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encounters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9516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tibbi müraciətlər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4617720"/>
            <a:ext cx="5074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400" b="1">
                <a:solidFill>
                  <a:srgbClr val="23375C"/>
                </a:solidFill>
              </a:rPr>
              <a:t>Məqsəd: klinik ölçmələri pasiyent demoqrafiyası və müraciət konteksti ilə birlikdə təhlil etmək.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4</a:t>
            </a:r>
            <a:endParaRPr lang="en-US" sz="750"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4773168"/>
            <a:ext cx="5715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101827"/>
                </a:solidFill>
              </a:rPr>
              <a:t>Birləşdirmədən</a:t>
            </a:r>
            <a:r>
              <a:rPr sz="1400" dirty="0">
                <a:solidFill>
                  <a:srgbClr val="101827"/>
                </a:solidFill>
              </a:rPr>
              <a:t> </a:t>
            </a:r>
            <a:r>
              <a:rPr sz="1400" dirty="0" err="1">
                <a:solidFill>
                  <a:srgbClr val="101827"/>
                </a:solidFill>
              </a:rPr>
              <a:t>sonra</a:t>
            </a:r>
            <a:r>
              <a:rPr sz="1400" dirty="0">
                <a:solidFill>
                  <a:srgbClr val="101827"/>
                </a:solidFill>
              </a:rPr>
              <a:t> </a:t>
            </a:r>
            <a:r>
              <a:rPr sz="1400" dirty="0" err="1">
                <a:solidFill>
                  <a:srgbClr val="101827"/>
                </a:solidFill>
              </a:rPr>
              <a:t>analiz</a:t>
            </a:r>
            <a:r>
              <a:rPr sz="1400" dirty="0">
                <a:solidFill>
                  <a:srgbClr val="101827"/>
                </a:solidFill>
              </a:rPr>
              <a:t> </a:t>
            </a:r>
            <a:r>
              <a:rPr sz="1400" dirty="0" err="1">
                <a:solidFill>
                  <a:srgbClr val="101827"/>
                </a:solidFill>
              </a:rPr>
              <a:t>üçün</a:t>
            </a:r>
            <a:r>
              <a:rPr sz="1400" dirty="0">
                <a:solidFill>
                  <a:srgbClr val="101827"/>
                </a:solidFill>
              </a:rPr>
              <a:t> 5.4 </a:t>
            </a:r>
            <a:r>
              <a:rPr sz="1400" dirty="0" err="1">
                <a:solidFill>
                  <a:srgbClr val="101827"/>
                </a:solidFill>
              </a:rPr>
              <a:t>milyon</a:t>
            </a:r>
            <a:r>
              <a:rPr sz="1400" dirty="0">
                <a:solidFill>
                  <a:srgbClr val="101827"/>
                </a:solidFill>
              </a:rPr>
              <a:t> </a:t>
            </a:r>
            <a:r>
              <a:rPr sz="1400" dirty="0" err="1">
                <a:solidFill>
                  <a:srgbClr val="101827"/>
                </a:solidFill>
              </a:rPr>
              <a:t>müşahidə</a:t>
            </a:r>
            <a:r>
              <a:rPr sz="1400" dirty="0">
                <a:solidFill>
                  <a:srgbClr val="101827"/>
                </a:solidFill>
              </a:rPr>
              <a:t> </a:t>
            </a:r>
            <a:r>
              <a:rPr sz="1400" dirty="0" err="1">
                <a:solidFill>
                  <a:srgbClr val="101827"/>
                </a:solidFill>
              </a:rPr>
              <a:t>sətri</a:t>
            </a:r>
            <a:r>
              <a:rPr sz="1400" dirty="0">
                <a:solidFill>
                  <a:srgbClr val="101827"/>
                </a:solidFill>
              </a:rPr>
              <a:t> </a:t>
            </a:r>
            <a:r>
              <a:rPr sz="1400" dirty="0" err="1">
                <a:solidFill>
                  <a:srgbClr val="101827"/>
                </a:solidFill>
              </a:rPr>
              <a:t>saxlanıldı</a:t>
            </a:r>
            <a:r>
              <a:rPr sz="1400" dirty="0">
                <a:solidFill>
                  <a:srgbClr val="10182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Pasiyentlərin demoqrafik paylanması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Deskriptiv təhlil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143000"/>
          <a:ext cx="44805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852160" y="1143000"/>
          <a:ext cx="53949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914400" y="5532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65D"/>
                </a:solidFill>
              </a:rPr>
              <a:t>Cins üzrə paylanma balanslıdır; yaş üzrə ən böyük qrup 65+ qrupudur.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Əsas klinik göstəricilər üzrə ölçmə sayı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Deskriptiv təhlil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097280"/>
          <a:ext cx="7498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641080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65D"/>
                </a:solidFill>
              </a:rPr>
              <a:t>Əsas mesaj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41080" y="1691640"/>
            <a:ext cx="2880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Ən çox ölçülən göstəricilər sistolik və diastolik qan təzyiqidir.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41080" y="2560320"/>
            <a:ext cx="28803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BMI də yüksək ölçmə sayına malikdir və sonrakı risk analizləri üçün əsas göstəricilərdən biridir.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41080" y="3657600"/>
            <a:ext cx="28803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Fərqli vahidlərə görə dəyərlər birbaşa müqayisə edilmir.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Yaş qrupları üzrə BMI və sistolik qan təzyiqi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Deskriptiv təhlil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143000"/>
          <a:ext cx="52120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263640" y="1143000"/>
          <a:ext cx="52120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68680" y="53492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BMI üzrə ən yüksək orta dəyər 50–64 yaş qrupundadır: 38.3.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309360" y="5349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Sistolik təzyiq 35 yaşdan sonra yüksək səviyyədə qalır.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7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Müraciət növlərinin paylanması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Deskriptiv təhlil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graphicFrame>
        <p:nvGraphicFramePr>
          <p:cNvPr id="5" name="Chart 0"/>
          <p:cNvGraphicFramePr/>
          <p:nvPr/>
        </p:nvGraphicFramePr>
        <p:xfrm>
          <a:off x="822960" y="1143000"/>
          <a:ext cx="6675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909560" y="1417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F65A7"/>
                </a:solidFill>
              </a:rPr>
              <a:t>47%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909560" y="18562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müraciətlərin ambulator olması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90956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9E0B"/>
                </a:solidFill>
              </a:rPr>
              <a:t>16%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909560" y="32278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simptom üzrə müraciətlər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818120" y="4389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65D"/>
                </a:solidFill>
              </a:rPr>
              <a:t>Müraciətlərin böyük hissəsi ambulator və simptom əsaslı müraciətlərdən ibarətdir.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8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Pasiyentlərin izlənmə səviyyəsi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Deskriptiv təhlil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" name="Chart 0"/>
          <p:cNvGraphicFramePr/>
          <p:nvPr/>
        </p:nvGraphicFramePr>
        <p:xfrm>
          <a:off x="868680" y="1188720"/>
          <a:ext cx="658368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955280" y="1417320"/>
            <a:ext cx="3108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350">
                <a:solidFill>
                  <a:srgbClr val="101827"/>
                </a:solidFill>
              </a:rPr>
              <a:t>Ən böyük qrup orta izlənən pasiyentlərdir: 58 min nəfər (49%).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350">
                <a:solidFill>
                  <a:srgbClr val="101827"/>
                </a:solidFill>
              </a:rPr>
              <a:t>Pasiyentlər üzrə müşahidə sayı eyni deyil; bəzi pasiyentlər daha az, bəziləri daha çox izlənib.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350">
                <a:solidFill>
                  <a:srgbClr val="101827"/>
                </a:solidFill>
              </a:rPr>
              <a:t>Bu fərqi azaltmaq üçün risk analizləri təkrar qeydlər yox, pasiyent üzrə orta dəyərlər əsasında aparıldı.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9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BMI qrupları üzrə pasiyent paylanması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Deskriptiv təhlil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1143000"/>
          <a:ext cx="7315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275320" y="16459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64545"/>
                </a:solidFill>
              </a:rPr>
              <a:t>39%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275320" y="20848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BMI məlumatı olan pasiyentlərdə piylənmə qrupu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183880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65D"/>
                </a:solidFill>
              </a:rPr>
              <a:t>BMI məlumatı olan pasiyentlərdə ən böyük qrup piylənmə qrupudur.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8388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Bu nəticə diaqnoz deyil, deskriptiv paylanmadır.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10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BMI qrupu üzrə orta sistolik qan təzyiqi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Deskriptiv təhlil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114300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229600" y="1325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65D"/>
                </a:solidFill>
              </a:rPr>
              <a:t>BMI artdıqca orta sistolik təzyiq yüksəlir.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66760" y="2331720"/>
            <a:ext cx="2514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Aşağı BMI: 120.5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66760" y="2788920"/>
            <a:ext cx="2514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Artıq çəki: 133.8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66760" y="3246120"/>
            <a:ext cx="2514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Piylənmə: 135.5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75320" y="42519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Nəticə deskriptiv klinik müşahidə kimi qiymətləndirilir.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11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Glucose qrupuna görə orta A1c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Deskriptiv təhlil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" name="Chart 0"/>
          <p:cNvGraphicFramePr/>
          <p:nvPr/>
        </p:nvGraphicFramePr>
        <p:xfrm>
          <a:off x="868680" y="1143000"/>
          <a:ext cx="67665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00100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350">
                <a:solidFill>
                  <a:srgbClr val="101827"/>
                </a:solidFill>
              </a:rPr>
              <a:t>Aşağı, normal və yüksək glucose qruplarında orta A1c təxminən eyni səviyyədə qalır.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100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350">
                <a:solidFill>
                  <a:srgbClr val="101827"/>
                </a:solidFill>
              </a:rPr>
              <a:t>Əsas fərq çox yüksək glucose qrupunda görünür: orta A1c 7.65, median A1c 8.0-dır.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350">
                <a:solidFill>
                  <a:srgbClr val="101827"/>
                </a:solidFill>
              </a:rPr>
              <a:t>Bu nəticə diaqnoz deyil; glucose və A1c göstəricilərinin birlikdə dəyişməsini göstərən deskriptiv müşahidədir.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12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Mövcud müraciət səbəbləri üzrə paylanma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Deskriptiv təhlil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graphicFrame>
        <p:nvGraphicFramePr>
          <p:cNvPr id="5" name="Chart 0"/>
          <p:cNvGraphicFramePr/>
          <p:nvPr/>
        </p:nvGraphicFramePr>
        <p:xfrm>
          <a:off x="822960" y="1143000"/>
          <a:ext cx="69494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275320" y="1325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4545"/>
                </a:solidFill>
              </a:rPr>
              <a:t>Vacib məhdudiyyət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83880" y="1874520"/>
            <a:ext cx="3063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nəticə yalnız səbəb məlumatı mövcud olan qeydlər əsasında hesablanıb.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83880" y="2834640"/>
            <a:ext cx="3063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“Normal hamiləlik” xəstəlik deyil, datada müraciət səbəbi kimi qeyd olunub.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83880" y="3794760"/>
            <a:ext cx="3063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Nəticələr “ən çox xəstəliklər” kimi şərh edilmir.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13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10881360" cy="224028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960120" y="193852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Anomaliyalar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DEAFE"/>
                </a:solidFill>
              </a:rPr>
              <a:t>Data keyfiyyəti, tarix uyğunluğu və qeyri-real ölçmələr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011680" y="4160520"/>
            <a:ext cx="8138160" cy="0"/>
          </a:xfrm>
          <a:prstGeom prst="line">
            <a:avLst/>
          </a:prstGeom>
          <a:noFill/>
          <a:ln w="27940">
            <a:solidFill>
              <a:srgbClr val="D6454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14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Müşahidə və müraciət tarixləri arasında böyük fərq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Anomaliyalar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" name="Chart 0"/>
          <p:cNvGraphicFramePr/>
          <p:nvPr/>
        </p:nvGraphicFramePr>
        <p:xfrm>
          <a:off x="822960" y="1188720"/>
          <a:ext cx="6583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001000" y="12801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64545"/>
                </a:solidFill>
              </a:rPr>
              <a:t>55 min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001000" y="171907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5B6980"/>
                </a:solidFill>
              </a:rPr>
              <a:t>müşahidə və müraciət tarixi arasında 1 ildən çox fərq olan qeyd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01000" y="25603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9E0B"/>
                </a:solidFill>
              </a:rPr>
              <a:t>3,400 gün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001000" y="299923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250">
                <a:solidFill>
                  <a:srgbClr val="101827"/>
                </a:solidFill>
              </a:rPr>
              <a:t>maksimum fərq — təxminən 9 ildən çox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001000" y="3977640"/>
            <a:ext cx="29260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250">
                <a:solidFill>
                  <a:srgbClr val="101827"/>
                </a:solidFill>
              </a:rPr>
              <a:t>Bu problem 2.5 min pasiyent və 2.8 min müraciətə təsir edir.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0100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250">
                <a:solidFill>
                  <a:srgbClr val="101827"/>
                </a:solidFill>
              </a:rPr>
              <a:t>Bu tapıntı tarix ardıcıllığı və data uyğunluğu problemi kimi qiymətləndirildi.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15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Ölüm məlumatları üzrə tarix uyğunsuzluğu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Anomaliyalar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114300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400800" y="1143000"/>
          <a:ext cx="49377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68680" y="49834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0">
                <a:solidFill>
                  <a:srgbClr val="101827"/>
                </a:solidFill>
              </a:rPr>
              <a:t>32 pasiyentdə ölüm sertifikatı var, amma ölüm tarixi boşdur; 11 qeyddə sertifikat tarixi ölüm tarixindən əvvəl görünür.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51560" y="54406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0">
                <a:solidFill>
                  <a:srgbClr val="101827"/>
                </a:solidFill>
              </a:rPr>
              <a:t>Bundan əlavə, vəfatdan sonra 15 klinik ölçmə və 5 real müraciət qeydi tapıldı. Say az olsa da, ölüm tarixi ardıcıllığı pozulduğu üçün bu güclü data keyfiyyəti problemidir.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16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A1c göstəricisində mənfi dəyərlər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Anomaliyalar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graphicFrame>
        <p:nvGraphicFramePr>
          <p:cNvPr id="5" name="Chart 0"/>
          <p:cNvGraphicFramePr/>
          <p:nvPr/>
        </p:nvGraphicFramePr>
        <p:xfrm>
          <a:off x="822960" y="1143000"/>
          <a:ext cx="694944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321040" y="1325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64545"/>
                </a:solidFill>
              </a:rPr>
              <a:t>122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321040" y="17647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mənfi A1c qeydi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321040" y="2514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9E0B"/>
                </a:solidFill>
              </a:rPr>
              <a:t>17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321040" y="29535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pasiyent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22960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A1c faizlə ifadə olunur və mənfi dəyər ala bilməz.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0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tapıntı klinik ölçmə/data keyfiyyəti anomaliyasıdır.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17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Müraciət səbəbi məlumatında yüksək boşluq faizi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Anomaliyalar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graphicFrame>
        <p:nvGraphicFramePr>
          <p:cNvPr id="5" name="Chart 0"/>
          <p:cNvGraphicFramePr/>
          <p:nvPr/>
        </p:nvGraphicFramePr>
        <p:xfrm>
          <a:off x="822960" y="1188720"/>
          <a:ext cx="6583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001000" y="14173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64545"/>
                </a:solidFill>
              </a:rPr>
              <a:t>72%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001000" y="185623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müraciətdə səbəb məlumatı boşdur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01000" y="2697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A3A6"/>
                </a:solidFill>
              </a:rPr>
              <a:t>28%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001000" y="313639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müraciətdə səbəb açıqlaması var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001000" y="4114800"/>
            <a:ext cx="3063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Klinik ölçmə anomaliyası deyil, data doluluğu problemidir.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01000" y="4754880"/>
            <a:ext cx="3063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Səbəb əsaslı analizlərin interpretasiyasını məhdudlaşdırır.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18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10881360" cy="2240280"/>
          </a:xfrm>
          <a:prstGeom prst="rect">
            <a:avLst/>
          </a:prstGeom>
          <a:solidFill>
            <a:srgbClr val="16A3A6"/>
          </a:solidFill>
          <a:ln w="12700">
            <a:solidFill>
              <a:srgbClr val="16A3A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Text 1"/>
          <p:cNvSpPr/>
          <p:nvPr/>
        </p:nvSpPr>
        <p:spPr>
          <a:xfrm>
            <a:off x="960120" y="193852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Proqnoz və Fərziyyələr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0"/>
              <a:t>Fərziyyələr BMI, sistolik təzyiq və glucose əsasında qurulan risk siqnalları ilə yoxlanıldı.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011680" y="4160520"/>
            <a:ext cx="8138160" cy="0"/>
          </a:xfrm>
          <a:prstGeom prst="line">
            <a:avLst/>
          </a:prstGeom>
          <a:noFill/>
          <a:ln w="27940">
            <a:solidFill>
              <a:srgbClr val="16A3A6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19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Risk analizi üçün data və fərziyyə quruluşu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Proqnoz və fərziyyələr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1155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23375C"/>
                </a:solidFill>
              </a:rPr>
              <a:t>Analizə daxil edilən məlumatlar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Ümumi pasiyent sayı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51960" y="16276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6A3A6"/>
                </a:solidFill>
              </a:rPr>
              <a:t>107 min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130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BMI məlumatı olan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51960" y="21305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6A3A6"/>
                </a:solidFill>
              </a:rPr>
              <a:t>105 min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633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Sistolik təzyiq məlumatı olan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6334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6A3A6"/>
                </a:solidFill>
              </a:rPr>
              <a:t>107 min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136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Glucose və A1c məlumatı olan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51960" y="31363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6A3A6"/>
                </a:solidFill>
              </a:rPr>
              <a:t>32 min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Risk hesablanan pasiyent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51960" y="36393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6A3A6"/>
                </a:solidFill>
              </a:rPr>
              <a:t>32 min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51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>
                <a:solidFill>
                  <a:srgbClr val="1F375B"/>
                </a:solidFill>
              </a:rPr>
              <a:t>Risk siqnalı hədləri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1783080"/>
            <a:ext cx="29260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600"/>
              <a:t>BMI ≥ 30 — piylənmə siqnalı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331720"/>
            <a:ext cx="3383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600"/>
              <a:t>Sistolik təzyiq ≥ 140 — yüksək təzyiq siqnalı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2880360"/>
            <a:ext cx="29260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600"/>
              <a:t>Glucose ≥ 126 — yüksək glucose siqnalı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892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D54141"/>
                </a:solidFill>
              </a:rPr>
              <a:t>Fərziyyələr bu üç göstərici əsasında yoxlanıldı: glucose artdıqca A1c riski artır, yaş qrupları dəyişdikcə risk siqnalı dəyişir və risk hesablanan pasiyentlərin çoxunda ən azı bir risk siqnalı görünür.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20</a:t>
            </a:r>
            <a:endParaRPr lang="en-US" sz="750" dirty="0"/>
          </a:p>
        </p:txBody>
      </p:sp>
      <p:sp>
        <p:nvSpPr>
          <p:cNvPr id="22" name="TextBox 21"/>
          <p:cNvSpPr txBox="1"/>
          <p:nvPr/>
        </p:nvSpPr>
        <p:spPr>
          <a:xfrm>
            <a:off x="6629400" y="3481185"/>
            <a:ext cx="49377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607087"/>
                </a:solidFill>
              </a:rPr>
              <a:t>Hər</a:t>
            </a:r>
            <a:r>
              <a:rPr sz="1500" b="0" dirty="0">
                <a:solidFill>
                  <a:srgbClr val="607087"/>
                </a:solidFill>
              </a:rPr>
              <a:t> </a:t>
            </a:r>
            <a:r>
              <a:rPr sz="1500" b="0" dirty="0" err="1">
                <a:solidFill>
                  <a:srgbClr val="607087"/>
                </a:solidFill>
              </a:rPr>
              <a:t>pasiyent</a:t>
            </a:r>
            <a:r>
              <a:rPr sz="1500" b="0" dirty="0">
                <a:solidFill>
                  <a:srgbClr val="607087"/>
                </a:solidFill>
              </a:rPr>
              <a:t> </a:t>
            </a:r>
            <a:r>
              <a:rPr sz="1500" b="0" dirty="0" err="1">
                <a:solidFill>
                  <a:srgbClr val="607087"/>
                </a:solidFill>
              </a:rPr>
              <a:t>üçün</a:t>
            </a:r>
            <a:r>
              <a:rPr sz="1500" b="0" dirty="0">
                <a:solidFill>
                  <a:srgbClr val="607087"/>
                </a:solidFill>
              </a:rPr>
              <a:t> risk </a:t>
            </a:r>
            <a:r>
              <a:rPr sz="1500" b="0" dirty="0" err="1">
                <a:solidFill>
                  <a:srgbClr val="607087"/>
                </a:solidFill>
              </a:rPr>
              <a:t>sayı</a:t>
            </a:r>
            <a:r>
              <a:rPr sz="1500" b="0" dirty="0">
                <a:solidFill>
                  <a:srgbClr val="607087"/>
                </a:solidFill>
              </a:rPr>
              <a:t> 0–3 </a:t>
            </a:r>
            <a:r>
              <a:rPr sz="1500" b="0" dirty="0" err="1">
                <a:solidFill>
                  <a:srgbClr val="607087"/>
                </a:solidFill>
              </a:rPr>
              <a:t>arası</a:t>
            </a:r>
            <a:r>
              <a:rPr sz="1500" b="0" dirty="0">
                <a:solidFill>
                  <a:srgbClr val="607087"/>
                </a:solidFill>
              </a:rPr>
              <a:t> </a:t>
            </a:r>
            <a:r>
              <a:rPr sz="1500" b="0" dirty="0" err="1">
                <a:solidFill>
                  <a:srgbClr val="607087"/>
                </a:solidFill>
              </a:rPr>
              <a:t>hesablandı</a:t>
            </a:r>
            <a:r>
              <a:rPr sz="1500" b="0" dirty="0">
                <a:solidFill>
                  <a:srgbClr val="607087"/>
                </a:solidFill>
              </a:rPr>
              <a:t>: 0 risk </a:t>
            </a:r>
            <a:r>
              <a:rPr sz="1500" b="0" dirty="0" err="1">
                <a:solidFill>
                  <a:srgbClr val="607087"/>
                </a:solidFill>
              </a:rPr>
              <a:t>yoxdur</a:t>
            </a:r>
            <a:r>
              <a:rPr sz="1500" b="0" dirty="0">
                <a:solidFill>
                  <a:srgbClr val="607087"/>
                </a:solidFill>
              </a:rPr>
              <a:t>, 1–3 </a:t>
            </a:r>
            <a:r>
              <a:rPr sz="1500" b="0" dirty="0" err="1">
                <a:solidFill>
                  <a:srgbClr val="607087"/>
                </a:solidFill>
              </a:rPr>
              <a:t>isə</a:t>
            </a:r>
            <a:r>
              <a:rPr sz="1500" b="0" dirty="0">
                <a:solidFill>
                  <a:srgbClr val="607087"/>
                </a:solidFill>
              </a:rPr>
              <a:t> </a:t>
            </a:r>
            <a:r>
              <a:rPr sz="1500" b="0" dirty="0" err="1">
                <a:solidFill>
                  <a:srgbClr val="607087"/>
                </a:solidFill>
              </a:rPr>
              <a:t>bir</a:t>
            </a:r>
            <a:r>
              <a:rPr sz="1500" b="0" dirty="0">
                <a:solidFill>
                  <a:srgbClr val="607087"/>
                </a:solidFill>
              </a:rPr>
              <a:t> </a:t>
            </a:r>
            <a:r>
              <a:rPr sz="1500" b="0" dirty="0" err="1">
                <a:solidFill>
                  <a:srgbClr val="607087"/>
                </a:solidFill>
              </a:rPr>
              <a:t>və</a:t>
            </a:r>
            <a:r>
              <a:rPr sz="1500" b="0" dirty="0">
                <a:solidFill>
                  <a:srgbClr val="607087"/>
                </a:solidFill>
              </a:rPr>
              <a:t> </a:t>
            </a:r>
            <a:r>
              <a:rPr sz="1500" b="0" dirty="0" err="1">
                <a:solidFill>
                  <a:srgbClr val="607087"/>
                </a:solidFill>
              </a:rPr>
              <a:t>ya</a:t>
            </a:r>
            <a:r>
              <a:rPr sz="1500" b="0" dirty="0">
                <a:solidFill>
                  <a:srgbClr val="607087"/>
                </a:solidFill>
              </a:rPr>
              <a:t> </a:t>
            </a:r>
            <a:r>
              <a:rPr sz="1500" b="0" dirty="0" err="1">
                <a:solidFill>
                  <a:srgbClr val="607087"/>
                </a:solidFill>
              </a:rPr>
              <a:t>bir</a:t>
            </a:r>
            <a:r>
              <a:rPr sz="1500" b="0" dirty="0">
                <a:solidFill>
                  <a:srgbClr val="607087"/>
                </a:solidFill>
              </a:rPr>
              <a:t> </a:t>
            </a:r>
            <a:r>
              <a:rPr sz="1500" b="0" dirty="0" err="1">
                <a:solidFill>
                  <a:srgbClr val="607087"/>
                </a:solidFill>
              </a:rPr>
              <a:t>neçə</a:t>
            </a:r>
            <a:r>
              <a:rPr sz="1500" b="0" dirty="0">
                <a:solidFill>
                  <a:srgbClr val="607087"/>
                </a:solidFill>
              </a:rPr>
              <a:t> </a:t>
            </a:r>
            <a:r>
              <a:rPr sz="1500" b="0" dirty="0" err="1">
                <a:solidFill>
                  <a:srgbClr val="607087"/>
                </a:solidFill>
              </a:rPr>
              <a:t>həddin</a:t>
            </a:r>
            <a:r>
              <a:rPr sz="1500" b="0" dirty="0">
                <a:solidFill>
                  <a:srgbClr val="607087"/>
                </a:solidFill>
              </a:rPr>
              <a:t> </a:t>
            </a:r>
            <a:r>
              <a:rPr sz="1500" b="0" dirty="0" err="1">
                <a:solidFill>
                  <a:srgbClr val="607087"/>
                </a:solidFill>
              </a:rPr>
              <a:t>keçildiyini</a:t>
            </a:r>
            <a:r>
              <a:rPr sz="1500" b="0" dirty="0">
                <a:solidFill>
                  <a:srgbClr val="607087"/>
                </a:solidFill>
              </a:rPr>
              <a:t> </a:t>
            </a:r>
            <a:r>
              <a:rPr sz="1500" b="0" dirty="0" err="1">
                <a:solidFill>
                  <a:srgbClr val="607087"/>
                </a:solidFill>
              </a:rPr>
              <a:t>göstərir</a:t>
            </a:r>
            <a:r>
              <a:rPr sz="1500" b="0" dirty="0">
                <a:solidFill>
                  <a:srgbClr val="60708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Glucose qrupları üzrə yüksək A1c faizi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Proqnoz və fərziyyələr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graphicFrame>
        <p:nvGraphicFramePr>
          <p:cNvPr id="5" name="Chart 0"/>
          <p:cNvGraphicFramePr/>
          <p:nvPr/>
        </p:nvGraphicFramePr>
        <p:xfrm>
          <a:off x="822960" y="114300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458200" y="1417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64545"/>
                </a:solidFill>
              </a:rPr>
              <a:t>82%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458200" y="1856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çox yüksək glucose qrupunda yüksək A1c faizi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16103" y="2798063"/>
            <a:ext cx="3274489" cy="115213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500" dirty="0" err="1"/>
              <a:t>Fərziyyə</a:t>
            </a:r>
            <a:r>
              <a:rPr sz="1500" dirty="0"/>
              <a:t>: glucose </a:t>
            </a:r>
            <a:r>
              <a:rPr sz="1500" dirty="0" err="1"/>
              <a:t>səviyyəsi</a:t>
            </a:r>
            <a:r>
              <a:rPr sz="1500" dirty="0"/>
              <a:t> </a:t>
            </a:r>
            <a:r>
              <a:rPr sz="1500" dirty="0" err="1"/>
              <a:t>yüksəldikcə</a:t>
            </a:r>
            <a:r>
              <a:rPr sz="1500" dirty="0"/>
              <a:t> </a:t>
            </a:r>
            <a:r>
              <a:rPr sz="1500" dirty="0" err="1"/>
              <a:t>yüksək</a:t>
            </a:r>
            <a:r>
              <a:rPr sz="1500" dirty="0"/>
              <a:t> A1c </a:t>
            </a:r>
            <a:r>
              <a:rPr sz="1500" dirty="0" err="1"/>
              <a:t>faizi</a:t>
            </a:r>
            <a:r>
              <a:rPr sz="1500" dirty="0"/>
              <a:t> </a:t>
            </a:r>
            <a:r>
              <a:rPr sz="1500" dirty="0" err="1"/>
              <a:t>də</a:t>
            </a:r>
            <a:r>
              <a:rPr sz="1500" dirty="0"/>
              <a:t> </a:t>
            </a:r>
            <a:r>
              <a:rPr sz="1500" dirty="0" err="1"/>
              <a:t>artmalıdır</a:t>
            </a:r>
            <a:r>
              <a:rPr sz="1500" dirty="0"/>
              <a:t>. </a:t>
            </a:r>
            <a:r>
              <a:rPr sz="1500" dirty="0" err="1"/>
              <a:t>Nəticədə</a:t>
            </a:r>
            <a:r>
              <a:rPr sz="1500" dirty="0"/>
              <a:t> </a:t>
            </a:r>
            <a:r>
              <a:rPr sz="1500" dirty="0" err="1"/>
              <a:t>yüksək</a:t>
            </a:r>
            <a:r>
              <a:rPr sz="1500" dirty="0"/>
              <a:t> glucose </a:t>
            </a:r>
            <a:r>
              <a:rPr sz="1500" dirty="0" err="1"/>
              <a:t>qrupunda</a:t>
            </a:r>
            <a:r>
              <a:rPr sz="1500" dirty="0"/>
              <a:t> 59%, </a:t>
            </a:r>
            <a:r>
              <a:rPr sz="1500" dirty="0" err="1"/>
              <a:t>çox</a:t>
            </a:r>
            <a:r>
              <a:rPr sz="1500" dirty="0"/>
              <a:t> </a:t>
            </a:r>
            <a:r>
              <a:rPr sz="1500" dirty="0" err="1"/>
              <a:t>yüksək</a:t>
            </a:r>
            <a:r>
              <a:rPr sz="1500" dirty="0"/>
              <a:t> glucose </a:t>
            </a:r>
            <a:r>
              <a:rPr sz="1500" dirty="0" err="1"/>
              <a:t>qrupunda</a:t>
            </a:r>
            <a:r>
              <a:rPr sz="1500" dirty="0"/>
              <a:t> </a:t>
            </a:r>
            <a:r>
              <a:rPr sz="1500" dirty="0" err="1"/>
              <a:t>isə</a:t>
            </a:r>
            <a:r>
              <a:rPr sz="1500" dirty="0"/>
              <a:t> 82% </a:t>
            </a:r>
            <a:r>
              <a:rPr sz="1500" dirty="0" err="1"/>
              <a:t>yüksək</a:t>
            </a:r>
            <a:r>
              <a:rPr sz="1500" dirty="0"/>
              <a:t> A1c </a:t>
            </a:r>
            <a:r>
              <a:rPr sz="1500" dirty="0" err="1"/>
              <a:t>görünür</a:t>
            </a:r>
            <a:r>
              <a:rPr sz="1500" dirty="0"/>
              <a:t>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06740" y="4187951"/>
            <a:ext cx="3063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500" dirty="0" err="1"/>
              <a:t>Şərh</a:t>
            </a:r>
            <a:r>
              <a:rPr sz="1500" dirty="0"/>
              <a:t>: </a:t>
            </a:r>
            <a:r>
              <a:rPr sz="1500" dirty="0" err="1"/>
              <a:t>bu</a:t>
            </a:r>
            <a:r>
              <a:rPr sz="1500" dirty="0"/>
              <a:t> </a:t>
            </a:r>
            <a:r>
              <a:rPr sz="1500" dirty="0" err="1"/>
              <a:t>diaqnoz</a:t>
            </a:r>
            <a:r>
              <a:rPr sz="1500" dirty="0"/>
              <a:t> </a:t>
            </a:r>
            <a:r>
              <a:rPr sz="1500" dirty="0" err="1"/>
              <a:t>deyil</a:t>
            </a:r>
            <a:r>
              <a:rPr sz="1500" dirty="0"/>
              <a:t>; glucose </a:t>
            </a:r>
            <a:r>
              <a:rPr sz="1500" dirty="0" err="1"/>
              <a:t>və</a:t>
            </a:r>
            <a:r>
              <a:rPr sz="1500" dirty="0"/>
              <a:t> A1c </a:t>
            </a:r>
            <a:r>
              <a:rPr sz="1500" dirty="0" err="1"/>
              <a:t>arasında</a:t>
            </a:r>
            <a:r>
              <a:rPr sz="1500" dirty="0"/>
              <a:t> </a:t>
            </a:r>
            <a:r>
              <a:rPr sz="1500" dirty="0" err="1"/>
              <a:t>datada</a:t>
            </a:r>
            <a:r>
              <a:rPr sz="1500" dirty="0"/>
              <a:t> </a:t>
            </a:r>
            <a:r>
              <a:rPr sz="1500" dirty="0" err="1"/>
              <a:t>görünən</a:t>
            </a:r>
            <a:r>
              <a:rPr sz="1500" dirty="0"/>
              <a:t> </a:t>
            </a:r>
            <a:r>
              <a:rPr sz="1500" dirty="0" err="1"/>
              <a:t>analitik</a:t>
            </a:r>
            <a:r>
              <a:rPr sz="1500" dirty="0"/>
              <a:t> </a:t>
            </a:r>
            <a:r>
              <a:rPr sz="1500" dirty="0" err="1"/>
              <a:t>əlaqəni</a:t>
            </a:r>
            <a:r>
              <a:rPr sz="1500" dirty="0"/>
              <a:t> </a:t>
            </a:r>
            <a:r>
              <a:rPr sz="1500" dirty="0" err="1"/>
              <a:t>göstərir</a:t>
            </a:r>
            <a:r>
              <a:rPr sz="1500" dirty="0"/>
              <a:t>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21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Yaş qrupları üzrə risk siqnalı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Proqnoz və fərziyyələr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graphicFrame>
        <p:nvGraphicFramePr>
          <p:cNvPr id="5" name="Chart 0"/>
          <p:cNvGraphicFramePr/>
          <p:nvPr/>
        </p:nvGraphicFramePr>
        <p:xfrm>
          <a:off x="822960" y="1143000"/>
          <a:ext cx="70408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229600" y="14173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64545"/>
                </a:solidFill>
              </a:rPr>
              <a:t>99%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229600" y="18562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50–64 yaş qrupunda risk siqnalı faizi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183880" y="2564891"/>
            <a:ext cx="3017520" cy="94640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r>
              <a:rPr sz="1500" dirty="0" err="1"/>
              <a:t>Fərziyyə</a:t>
            </a:r>
            <a:r>
              <a:rPr sz="1500" dirty="0"/>
              <a:t>: </a:t>
            </a:r>
            <a:r>
              <a:rPr sz="1500" dirty="0" err="1"/>
              <a:t>yaş</a:t>
            </a:r>
            <a:r>
              <a:rPr sz="1500" dirty="0"/>
              <a:t> </a:t>
            </a:r>
            <a:r>
              <a:rPr sz="1500" dirty="0" err="1"/>
              <a:t>artdıqca</a:t>
            </a:r>
            <a:r>
              <a:rPr sz="1500" dirty="0"/>
              <a:t> risk </a:t>
            </a:r>
            <a:r>
              <a:rPr sz="1500" dirty="0" err="1"/>
              <a:t>siqnalı</a:t>
            </a:r>
            <a:r>
              <a:rPr sz="1500" dirty="0"/>
              <a:t> </a:t>
            </a:r>
            <a:r>
              <a:rPr sz="1500" dirty="0" err="1"/>
              <a:t>faizi</a:t>
            </a:r>
            <a:r>
              <a:rPr sz="1500" dirty="0"/>
              <a:t> </a:t>
            </a:r>
            <a:r>
              <a:rPr sz="1500" dirty="0" err="1"/>
              <a:t>yüksələ</a:t>
            </a:r>
            <a:r>
              <a:rPr sz="1500" dirty="0"/>
              <a:t> </a:t>
            </a:r>
            <a:r>
              <a:rPr sz="1500" dirty="0" err="1"/>
              <a:t>bilər</a:t>
            </a:r>
            <a:r>
              <a:rPr sz="1500" dirty="0"/>
              <a:t>. </a:t>
            </a:r>
            <a:r>
              <a:rPr sz="1500" dirty="0" err="1"/>
              <a:t>Nəticədə</a:t>
            </a:r>
            <a:r>
              <a:rPr sz="1500" dirty="0"/>
              <a:t> 35 </a:t>
            </a:r>
            <a:r>
              <a:rPr sz="1500" dirty="0" err="1"/>
              <a:t>yaşdan</a:t>
            </a:r>
            <a:r>
              <a:rPr sz="1500" dirty="0"/>
              <a:t> </a:t>
            </a:r>
            <a:r>
              <a:rPr sz="1500" dirty="0" err="1"/>
              <a:t>sonra</a:t>
            </a:r>
            <a:r>
              <a:rPr sz="1500" dirty="0"/>
              <a:t> </a:t>
            </a:r>
            <a:r>
              <a:rPr sz="1500" dirty="0" err="1"/>
              <a:t>artım</a:t>
            </a:r>
            <a:r>
              <a:rPr sz="1500" dirty="0"/>
              <a:t> </a:t>
            </a:r>
            <a:r>
              <a:rPr sz="1500" dirty="0" err="1"/>
              <a:t>görünür</a:t>
            </a:r>
            <a:r>
              <a:rPr sz="1500" dirty="0"/>
              <a:t> </a:t>
            </a:r>
            <a:r>
              <a:rPr sz="1500" dirty="0" err="1"/>
              <a:t>və</a:t>
            </a:r>
            <a:r>
              <a:rPr sz="1500" dirty="0"/>
              <a:t> </a:t>
            </a:r>
            <a:r>
              <a:rPr sz="1500" dirty="0" err="1"/>
              <a:t>maksimum</a:t>
            </a:r>
            <a:r>
              <a:rPr sz="1500" dirty="0"/>
              <a:t> </a:t>
            </a:r>
            <a:r>
              <a:rPr sz="1500" dirty="0" err="1"/>
              <a:t>göstərici</a:t>
            </a:r>
            <a:r>
              <a:rPr sz="1500" dirty="0"/>
              <a:t> 50–64 </a:t>
            </a:r>
            <a:r>
              <a:rPr sz="1500" dirty="0" err="1"/>
              <a:t>yaş</a:t>
            </a:r>
            <a:r>
              <a:rPr sz="1500" dirty="0"/>
              <a:t> </a:t>
            </a:r>
            <a:r>
              <a:rPr sz="1500" dirty="0" err="1"/>
              <a:t>qrupundadır</a:t>
            </a:r>
            <a:r>
              <a:rPr sz="1500" dirty="0"/>
              <a:t>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83880" y="3749040"/>
            <a:ext cx="3017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500" dirty="0"/>
              <a:t>65+ </a:t>
            </a:r>
            <a:r>
              <a:rPr sz="1500" dirty="0" err="1"/>
              <a:t>qrupunda</a:t>
            </a:r>
            <a:r>
              <a:rPr sz="1500" dirty="0"/>
              <a:t> risk </a:t>
            </a:r>
            <a:r>
              <a:rPr sz="1500" dirty="0" err="1"/>
              <a:t>yenə</a:t>
            </a:r>
            <a:r>
              <a:rPr sz="1500" dirty="0"/>
              <a:t> </a:t>
            </a:r>
            <a:r>
              <a:rPr sz="1500" dirty="0" err="1"/>
              <a:t>yüksəkdir</a:t>
            </a:r>
            <a:r>
              <a:rPr sz="1500" dirty="0"/>
              <a:t>, amma 50–64 </a:t>
            </a:r>
            <a:r>
              <a:rPr sz="1500" dirty="0" err="1"/>
              <a:t>qrupundan</a:t>
            </a:r>
            <a:r>
              <a:rPr sz="1500" dirty="0"/>
              <a:t> </a:t>
            </a:r>
            <a:r>
              <a:rPr sz="1500" dirty="0" err="1"/>
              <a:t>aşağıdır</a:t>
            </a:r>
            <a:r>
              <a:rPr sz="1500" dirty="0"/>
              <a:t>. Bu </a:t>
            </a:r>
            <a:r>
              <a:rPr sz="1500" dirty="0" err="1"/>
              <a:t>nəticə</a:t>
            </a:r>
            <a:r>
              <a:rPr sz="1500" dirty="0"/>
              <a:t> </a:t>
            </a:r>
            <a:r>
              <a:rPr sz="1500" dirty="0" err="1"/>
              <a:t>yaş</a:t>
            </a:r>
            <a:r>
              <a:rPr sz="1500" dirty="0"/>
              <a:t> </a:t>
            </a:r>
            <a:r>
              <a:rPr sz="1500" dirty="0" err="1"/>
              <a:t>qrupları</a:t>
            </a:r>
            <a:r>
              <a:rPr sz="1500" dirty="0"/>
              <a:t> </a:t>
            </a:r>
            <a:r>
              <a:rPr sz="1500" dirty="0" err="1"/>
              <a:t>üzrə</a:t>
            </a:r>
            <a:r>
              <a:rPr sz="1500" dirty="0"/>
              <a:t> </a:t>
            </a:r>
            <a:r>
              <a:rPr sz="1500" dirty="0" err="1"/>
              <a:t>riskin</a:t>
            </a:r>
            <a:r>
              <a:rPr sz="1500" dirty="0"/>
              <a:t> </a:t>
            </a:r>
            <a:r>
              <a:rPr sz="1500" dirty="0" err="1"/>
              <a:t>eyni</a:t>
            </a:r>
            <a:r>
              <a:rPr sz="1500" dirty="0"/>
              <a:t> </a:t>
            </a:r>
            <a:r>
              <a:rPr sz="1500" dirty="0" err="1"/>
              <a:t>paylanmadığını</a:t>
            </a:r>
            <a:r>
              <a:rPr sz="1500" dirty="0"/>
              <a:t> </a:t>
            </a:r>
            <a:r>
              <a:rPr sz="1500" dirty="0" err="1"/>
              <a:t>göstərir</a:t>
            </a:r>
            <a:r>
              <a:rPr sz="1500" dirty="0"/>
              <a:t>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55321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0">
                <a:solidFill>
                  <a:srgbClr val="607087"/>
                </a:solidFill>
              </a:rPr>
              <a:t>Qeyd: 0–17 qrupu risk analizində göstərilməyib, çünki risk hesabı yalnız BMI, sistolik təzyiq və glucose məlumatı birlikdə olan pasiyentlər üzrə aparılıb.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22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siqnalı profili və sərhədə yaxın göstəricilər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Proqnoz və fərziyyələr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114300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355080" y="114300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5349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375B"/>
                </a:solidFill>
              </a:rPr>
              <a:t>Fərziyyə 1: risk hesablanan pasiyentlərin çoxunda ən azı 1 siqnal görünə bilər. Nəticə bunu təsdiqləyir: 32 min pasiyentin təxminən 84%-də ən azı 1 risk siqnalı var.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355080" y="53492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1F375B"/>
                </a:solidFill>
              </a:rPr>
              <a:t>Fərziyyə 2: risk siqnalı olmayan pasiyentlərin bir hissəsi risk həddinə yaxın ola bilər. Nəticədə risksiz qrupun təxminən 68%-də BMI sərhədə yaxındır.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23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Xülasə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281160" y="3474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Yekun nəticə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E8EE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5A7"/>
                </a:solidFill>
              </a:rPr>
              <a:t>Data strukturu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29000" y="10789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/>
              <a:t>patients, encounters və observations dataları birləşdirildi; əsas analiz klinik müşahidələr üzərində quruldu.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A6"/>
                </a:solidFill>
              </a:rPr>
              <a:t>Deskriptiv nəticə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20391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/>
              <a:t>Pasiyent profili, yaş qrupları, BMI, qan təzyiqi, glucose, A1c və müraciət növləri üzrə əsas paylanmalar göstərildi.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45"/>
                </a:solidFill>
              </a:rPr>
              <a:t>Data keyfiyyəti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29992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/>
              <a:t>Ən ciddi problemlər: tarix uyğunsuzluğu, ölüm məlumatlarında ziddiyyət, mənfi A1c və 72% boş müraciət səbəbi məlumatıdır.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F59E0B"/>
                </a:solidFill>
              </a:rPr>
              <a:t>Proqnoz və fərziyyə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39593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/>
              <a:t>Fərziyyələr risk siqnalları ilə yoxlandı: yüksək glucose yüksək A1c ilə, yaş qrupları isə risk faizi ilə əlaqəli görünür.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5AF8"/>
                </a:solidFill>
              </a:rPr>
              <a:t>Məhdudiyyət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4919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300"/>
              <a:t>Nəticələr klinik diaqnoz deyil; yalnız Synthea Hospital datasında statistik və analitik müşahidələrdir.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59893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b="1" dirty="0" err="1">
                <a:solidFill>
                  <a:srgbClr val="1F375B"/>
                </a:solidFill>
              </a:rPr>
              <a:t>Əsas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nəticə</a:t>
            </a:r>
            <a:r>
              <a:rPr sz="1300" b="1" dirty="0">
                <a:solidFill>
                  <a:srgbClr val="1F375B"/>
                </a:solidFill>
              </a:rPr>
              <a:t>: </a:t>
            </a:r>
            <a:r>
              <a:rPr sz="1300" b="1" dirty="0" err="1">
                <a:solidFill>
                  <a:srgbClr val="1F375B"/>
                </a:solidFill>
              </a:rPr>
              <a:t>layihə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pasiyent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profilini</a:t>
            </a:r>
            <a:r>
              <a:rPr sz="1300" b="1" dirty="0">
                <a:solidFill>
                  <a:srgbClr val="1F375B"/>
                </a:solidFill>
              </a:rPr>
              <a:t>, </a:t>
            </a:r>
            <a:r>
              <a:rPr sz="1300" b="1" dirty="0" err="1">
                <a:solidFill>
                  <a:srgbClr val="1F375B"/>
                </a:solidFill>
              </a:rPr>
              <a:t>klinik</a:t>
            </a:r>
            <a:r>
              <a:rPr sz="1300" b="1" dirty="0">
                <a:solidFill>
                  <a:srgbClr val="1F375B"/>
                </a:solidFill>
              </a:rPr>
              <a:t> risk </a:t>
            </a:r>
            <a:r>
              <a:rPr sz="1300" b="1" dirty="0" err="1">
                <a:solidFill>
                  <a:srgbClr val="1F375B"/>
                </a:solidFill>
              </a:rPr>
              <a:t>meyllərini</a:t>
            </a:r>
            <a:r>
              <a:rPr sz="1300" b="1" dirty="0">
                <a:solidFill>
                  <a:srgbClr val="1F375B"/>
                </a:solidFill>
              </a:rPr>
              <a:t>, </a:t>
            </a:r>
            <a:r>
              <a:rPr sz="1300" b="1" dirty="0" err="1">
                <a:solidFill>
                  <a:srgbClr val="1F375B"/>
                </a:solidFill>
              </a:rPr>
              <a:t>fərziyyə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nəticələrini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və</a:t>
            </a:r>
            <a:r>
              <a:rPr sz="1300" b="1" dirty="0">
                <a:solidFill>
                  <a:srgbClr val="1F375B"/>
                </a:solidFill>
              </a:rPr>
              <a:t> data </a:t>
            </a:r>
            <a:r>
              <a:rPr sz="1300" b="1" dirty="0" err="1">
                <a:solidFill>
                  <a:srgbClr val="1F375B"/>
                </a:solidFill>
              </a:rPr>
              <a:t>keyfiyyəti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problemlərini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birlikdə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göstərir</a:t>
            </a:r>
            <a:r>
              <a:rPr sz="1300" b="1" dirty="0">
                <a:solidFill>
                  <a:srgbClr val="1F375B"/>
                </a:solidFill>
              </a:rPr>
              <a:t>. </a:t>
            </a:r>
            <a:r>
              <a:rPr sz="1300" b="1" dirty="0" err="1">
                <a:solidFill>
                  <a:srgbClr val="1F375B"/>
                </a:solidFill>
              </a:rPr>
              <a:t>Ən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vacib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məqam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nəticələri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diaqnoz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kimi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yox</a:t>
            </a:r>
            <a:r>
              <a:rPr sz="1300" b="1" dirty="0">
                <a:solidFill>
                  <a:srgbClr val="1F375B"/>
                </a:solidFill>
              </a:rPr>
              <a:t>, </a:t>
            </a:r>
            <a:r>
              <a:rPr sz="1300" b="1" dirty="0" err="1">
                <a:solidFill>
                  <a:srgbClr val="1F375B"/>
                </a:solidFill>
              </a:rPr>
              <a:t>dataya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əsaslanan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analitik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siqnal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kimi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şərh</a:t>
            </a:r>
            <a:r>
              <a:rPr sz="1300" b="1" dirty="0">
                <a:solidFill>
                  <a:srgbClr val="1F375B"/>
                </a:solidFill>
              </a:rPr>
              <a:t> </a:t>
            </a:r>
            <a:r>
              <a:rPr sz="1300" b="1" dirty="0" err="1">
                <a:solidFill>
                  <a:srgbClr val="1F375B"/>
                </a:solidFill>
              </a:rPr>
              <a:t>etməkdir</a:t>
            </a:r>
            <a:r>
              <a:rPr sz="1300" b="1" dirty="0">
                <a:solidFill>
                  <a:srgbClr val="1F375B"/>
                </a:solidFill>
              </a:rPr>
              <a:t>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DA 307  |  Ali Ojagverdiyev  |  24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49640" y="1097280"/>
            <a:ext cx="1371600" cy="1325880"/>
          </a:xfrm>
          <a:prstGeom prst="rect">
            <a:avLst/>
          </a:prstGeom>
          <a:solidFill>
            <a:srgbClr val="40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04120" y="2514600"/>
            <a:ext cx="914400" cy="914400"/>
          </a:xfrm>
          <a:prstGeom prst="rect">
            <a:avLst/>
          </a:prstGeom>
          <a:solidFill>
            <a:srgbClr val="5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01000" y="4709160"/>
            <a:ext cx="1874519" cy="292608"/>
          </a:xfrm>
          <a:prstGeom prst="rect">
            <a:avLst/>
          </a:prstGeom>
          <a:solidFill>
            <a:srgbClr val="E8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3375C"/>
                </a:solidFill>
              </a:rPr>
              <a:t>Təşəkkür edirəm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4320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B6980"/>
                </a:solidFill>
              </a:rPr>
              <a:t>Synthea Hospital datası üzrə yekun data analitika layihəsi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1840"/>
            <a:ext cx="5303520" cy="27432"/>
          </a:xfrm>
          <a:prstGeom prst="rect">
            <a:avLst/>
          </a:prstGeom>
          <a:solidFill>
            <a:srgbClr val="50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3886200"/>
            <a:ext cx="6583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01827"/>
                </a:solidFill>
              </a:rPr>
              <a:t>Suallarınız varsa, cavablandırmağa hazıram.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57200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B6980"/>
                </a:solidFill>
              </a:rPr>
              <a:t>Ali Ojagverdiyev | DA 307 | 16.05.2026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111556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6E7D91"/>
                </a:solidFill>
              </a:rPr>
              <a:t>DA 307  |  Ali Ojagverdiyev  | 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1177</TotalTime>
  <Words>1513</Words>
  <Application>Microsoft Macintosh PowerPoint</Application>
  <PresentationFormat>Widescreen</PresentationFormat>
  <Paragraphs>252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 307 - Ali Ojagverdiyev</dc:title>
  <dc:subject>DA 307 Final Project</dc:subject>
  <dc:creator>OpenAI</dc:creator>
  <cp:lastModifiedBy>e39224</cp:lastModifiedBy>
  <cp:revision>4</cp:revision>
  <dcterms:created xsi:type="dcterms:W3CDTF">2026-05-13T22:27:11Z</dcterms:created>
  <dcterms:modified xsi:type="dcterms:W3CDTF">2026-05-15T12:34:08Z</dcterms:modified>
</cp:coreProperties>
</file>